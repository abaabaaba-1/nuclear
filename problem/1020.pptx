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8CE81-53F9-EE99-3B89-A939375DC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C20BF7-2E42-D1E0-A74F-1D12BDE4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C70285-0A15-767D-BA54-09608603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0EE8F5-38CE-2763-A22E-C7368F77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3E82B5-1D6B-358E-5260-4DED4BB4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7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E931A-93D1-A6B4-4CF1-8667C901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470654-8C88-4B9D-13DF-736105F82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7C1DF-FFC9-F4F4-25B0-E0D897EB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8E261-ADAA-D22A-FE87-2336CD17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5FC705-FBFA-7F99-9575-6C6EAA47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00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E61FE-9FB7-BDB7-F313-02FAADED1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A84B18-B10E-208C-3EF2-C6D30BE76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F641A-1D49-BE23-DF49-97AB8024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6C826E-D1CF-6EDE-B792-01639485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0EA06B-C38B-5BF8-EF04-2DA7571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3607E-7362-4EEC-634C-1373A777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13D17-BB39-ED17-B948-8EFA507E5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200C53-E6C3-5F04-BE8D-C59D82F43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4B50D7-2AE5-D79F-3E13-417E2BA19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E01938-79C5-D019-73B5-144E5772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F5276B-8B85-F8EC-B040-1A934868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5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B4B38-5812-5E83-DB18-EB19B238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67247E-E747-5DFE-E59C-CA00FDCA2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7279CF-E074-0D8B-994D-3FCDBD829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4172E6-8B80-532D-D473-112917174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C43960-2883-76C0-250B-0B6DC7904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E38EEB-9FDE-B71E-6343-41B0E0A0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3273B3-6B7B-D34F-48D2-4CAF4F5A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583D28-9B73-EE5A-311F-1C556D45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86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DC361-A612-D49C-887F-67163AD3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D9455E-3583-EE05-822C-3A4BE909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8A5BCA-C5A7-A271-407E-E7597242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6F3A61-3A30-77EB-16B4-2C41A31D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7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0BB415-37F8-BEE5-85B8-28625989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535B7DA-987C-93EC-BCF7-CEA9747D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611175-5A9C-98E7-C733-785EFBBD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8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98675-FC16-5118-5204-263D7651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153491-AB8D-5DC1-956B-59D0C0115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ECC64-9F22-EE9F-16F6-812613916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B730B1-54E7-D751-3C4B-B58C408D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CE5806-C4A6-CDDA-DE72-B8463574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45315D-7326-5ACE-892A-9F7A5523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3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5EC868-5E95-3482-74D9-01D833188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E796C8-9BA7-73BA-45F8-31DD4E74C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8F7134-66A5-113D-7678-4E558DA48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222439-6D83-1408-74A1-3AD068D0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645C15-3FBF-E380-C691-E450D768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D973B9-11E7-876F-373D-6DEE3D637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1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23418-34B4-5BA2-8534-0B995643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856852-7498-46A6-4BB8-E72598B24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70E51-6574-9F62-3D49-A65E55A5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444B9-5022-7CA7-0B67-A38AD190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A88D6-B41B-9A8C-EE65-361DC396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3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469AAF-3C3B-859E-4E86-6C9CD502D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54CEC-1F2D-C6CA-985C-9D5E5CEB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2FBD1A-D742-155C-E233-D0F068EC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F6EEF6-DE33-D617-38C5-15879EF7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176C9-49B9-D147-54B1-32B93F9F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54462AA-2BB4-EEF5-717B-18BE0B2A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AA7BCD-0492-C4FA-C3CC-7034E170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C23AF1-788F-2522-EB39-2AA917B40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43F0C-F768-4CC9-AB6A-E36C2D6CF2C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D82DB-06B3-1369-1893-A6128752F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EC85F-A03D-A27A-F96A-89C06B88A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0229C-E63B-4D36-A999-FCB498B938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25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9025A5-0617-A9F4-EEEC-18DD0BAB99DD}"/>
              </a:ext>
            </a:extLst>
          </p:cNvPr>
          <p:cNvSpPr txBox="1"/>
          <p:nvPr/>
        </p:nvSpPr>
        <p:spPr>
          <a:xfrm>
            <a:off x="770384" y="275061"/>
            <a:ext cx="3492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US" altLang="zh-CN" dirty="0"/>
              <a:t>olver</a:t>
            </a:r>
            <a:r>
              <a:rPr lang="zh-CN" altLang="en-US" dirty="0"/>
              <a:t>：</a:t>
            </a:r>
            <a:r>
              <a:rPr lang="en-US" dirty="0"/>
              <a:t>MIP </a:t>
            </a:r>
            <a:r>
              <a:rPr lang="zh-CN" altLang="en-US" dirty="0"/>
              <a:t>求解器</a:t>
            </a:r>
            <a:r>
              <a:rPr lang="en-US" altLang="zh-CN" dirty="0"/>
              <a:t>——</a:t>
            </a:r>
            <a:r>
              <a:rPr lang="zh-CN" altLang="en-US" dirty="0"/>
              <a:t>全局最优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47D6E8-18A1-B65D-A479-CDD819FD1348}"/>
              </a:ext>
            </a:extLst>
          </p:cNvPr>
          <p:cNvSpPr txBox="1"/>
          <p:nvPr/>
        </p:nvSpPr>
        <p:spPr>
          <a:xfrm>
            <a:off x="770384" y="850500"/>
            <a:ext cx="4047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MIP +</a:t>
            </a:r>
            <a:r>
              <a:rPr lang="zh-CN" altLang="en-US" dirty="0"/>
              <a:t>惰性约束求解</a:t>
            </a:r>
            <a:r>
              <a:rPr lang="en-US" altLang="zh-CN" dirty="0"/>
              <a:t>tsp</a:t>
            </a:r>
            <a:r>
              <a:rPr lang="zh-CN" altLang="en-US" dirty="0"/>
              <a:t>问题结果展示：</a:t>
            </a:r>
            <a:endParaRPr 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84F8F28-F704-76FA-709F-5EFA82295B28}"/>
              </a:ext>
            </a:extLst>
          </p:cNvPr>
          <p:cNvCxnSpPr>
            <a:cxnSpLocks/>
          </p:cNvCxnSpPr>
          <p:nvPr/>
        </p:nvCxnSpPr>
        <p:spPr>
          <a:xfrm>
            <a:off x="1723390" y="5138530"/>
            <a:ext cx="0" cy="450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348FAC3-81F8-18F6-366D-1626AD082D54}"/>
              </a:ext>
            </a:extLst>
          </p:cNvPr>
          <p:cNvCxnSpPr>
            <a:cxnSpLocks/>
          </p:cNvCxnSpPr>
          <p:nvPr/>
        </p:nvCxnSpPr>
        <p:spPr>
          <a:xfrm>
            <a:off x="6295390" y="5138530"/>
            <a:ext cx="0" cy="450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56343E1-C13C-166E-2761-2EA7FC07E926}"/>
              </a:ext>
            </a:extLst>
          </p:cNvPr>
          <p:cNvCxnSpPr/>
          <p:nvPr/>
        </p:nvCxnSpPr>
        <p:spPr>
          <a:xfrm>
            <a:off x="1723390" y="5138530"/>
            <a:ext cx="457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58DB95E-BE28-C27A-0F12-79DDA8220FA0}"/>
              </a:ext>
            </a:extLst>
          </p:cNvPr>
          <p:cNvCxnSpPr>
            <a:cxnSpLocks/>
          </p:cNvCxnSpPr>
          <p:nvPr/>
        </p:nvCxnSpPr>
        <p:spPr>
          <a:xfrm>
            <a:off x="4009389" y="4706178"/>
            <a:ext cx="0" cy="4323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B422DC5-FE8B-642E-76FA-9CDE00587099}"/>
              </a:ext>
            </a:extLst>
          </p:cNvPr>
          <p:cNvSpPr txBox="1"/>
          <p:nvPr/>
        </p:nvSpPr>
        <p:spPr>
          <a:xfrm>
            <a:off x="3014544" y="4457808"/>
            <a:ext cx="2496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对比思路：早停</a:t>
            </a:r>
            <a:endParaRPr 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E74217-7F41-49C1-1076-AF20BF19B4DE}"/>
              </a:ext>
            </a:extLst>
          </p:cNvPr>
          <p:cNvSpPr txBox="1"/>
          <p:nvPr/>
        </p:nvSpPr>
        <p:spPr>
          <a:xfrm>
            <a:off x="185990" y="5570261"/>
            <a:ext cx="337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设置 </a:t>
            </a:r>
            <a:r>
              <a:rPr lang="en-US" dirty="0" err="1"/>
              <a:t>MIPGap</a:t>
            </a:r>
            <a:r>
              <a:rPr lang="en-US" altLang="zh-CN" dirty="0"/>
              <a:t>(</a:t>
            </a:r>
            <a:r>
              <a:rPr lang="zh-CN" altLang="en-US" dirty="0"/>
              <a:t>最优性差距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dirty="0" err="1"/>
              <a:t>model.setParam</a:t>
            </a:r>
            <a:r>
              <a:rPr lang="en-US" dirty="0"/>
              <a:t>('</a:t>
            </a:r>
            <a:r>
              <a:rPr lang="en-US" dirty="0" err="1"/>
              <a:t>MIPGap</a:t>
            </a:r>
            <a:r>
              <a:rPr lang="en-US" dirty="0"/>
              <a:t>', 0.01)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4E5217-ACAA-E42E-5351-C329A9084D13}"/>
              </a:ext>
            </a:extLst>
          </p:cNvPr>
          <p:cNvSpPr txBox="1"/>
          <p:nvPr/>
        </p:nvSpPr>
        <p:spPr>
          <a:xfrm>
            <a:off x="4817388" y="5570261"/>
            <a:ext cx="4775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设置 </a:t>
            </a:r>
            <a:r>
              <a:rPr lang="en-US" dirty="0" err="1"/>
              <a:t>TimeLimit</a:t>
            </a:r>
            <a:r>
              <a:rPr lang="en-US" dirty="0"/>
              <a:t> (</a:t>
            </a:r>
            <a:r>
              <a:rPr lang="zh-CN" altLang="en-US" dirty="0"/>
              <a:t>时间限制</a:t>
            </a:r>
            <a:r>
              <a:rPr lang="en-US" altLang="zh-CN" dirty="0"/>
              <a:t>):</a:t>
            </a:r>
          </a:p>
          <a:p>
            <a:r>
              <a:rPr lang="en-US" dirty="0" err="1"/>
              <a:t>model.setParam</a:t>
            </a:r>
            <a:r>
              <a:rPr lang="en-US" dirty="0"/>
              <a:t>('</a:t>
            </a:r>
            <a:r>
              <a:rPr lang="en-US" dirty="0" err="1"/>
              <a:t>TimeLimit</a:t>
            </a:r>
            <a:r>
              <a:rPr lang="en-US" dirty="0"/>
              <a:t>', 300)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07627CD-D5A3-82ED-946B-9F7282FCF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531" y="557398"/>
            <a:ext cx="4227951" cy="4227951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26CD3F6-0DBF-2490-2313-9CECBAF1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09810"/>
              </p:ext>
            </p:extLst>
          </p:nvPr>
        </p:nvGraphicFramePr>
        <p:xfrm>
          <a:off x="60898" y="1658245"/>
          <a:ext cx="7896983" cy="1996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5090">
                  <a:extLst>
                    <a:ext uri="{9D8B030D-6E8A-4147-A177-3AD203B41FA5}">
                      <a16:colId xmlns:a16="http://schemas.microsoft.com/office/drawing/2014/main" val="2069487734"/>
                    </a:ext>
                  </a:extLst>
                </a:gridCol>
                <a:gridCol w="755090">
                  <a:extLst>
                    <a:ext uri="{9D8B030D-6E8A-4147-A177-3AD203B41FA5}">
                      <a16:colId xmlns:a16="http://schemas.microsoft.com/office/drawing/2014/main" val="2396177612"/>
                    </a:ext>
                  </a:extLst>
                </a:gridCol>
                <a:gridCol w="755090">
                  <a:extLst>
                    <a:ext uri="{9D8B030D-6E8A-4147-A177-3AD203B41FA5}">
                      <a16:colId xmlns:a16="http://schemas.microsoft.com/office/drawing/2014/main" val="3019325881"/>
                    </a:ext>
                  </a:extLst>
                </a:gridCol>
                <a:gridCol w="755090">
                  <a:extLst>
                    <a:ext uri="{9D8B030D-6E8A-4147-A177-3AD203B41FA5}">
                      <a16:colId xmlns:a16="http://schemas.microsoft.com/office/drawing/2014/main" val="141178751"/>
                    </a:ext>
                  </a:extLst>
                </a:gridCol>
                <a:gridCol w="755090">
                  <a:extLst>
                    <a:ext uri="{9D8B030D-6E8A-4147-A177-3AD203B41FA5}">
                      <a16:colId xmlns:a16="http://schemas.microsoft.com/office/drawing/2014/main" val="3132433204"/>
                    </a:ext>
                  </a:extLst>
                </a:gridCol>
                <a:gridCol w="755090">
                  <a:extLst>
                    <a:ext uri="{9D8B030D-6E8A-4147-A177-3AD203B41FA5}">
                      <a16:colId xmlns:a16="http://schemas.microsoft.com/office/drawing/2014/main" val="950772693"/>
                    </a:ext>
                  </a:extLst>
                </a:gridCol>
                <a:gridCol w="3366443">
                  <a:extLst>
                    <a:ext uri="{9D8B030D-6E8A-4147-A177-3AD203B41FA5}">
                      <a16:colId xmlns:a16="http://schemas.microsoft.com/office/drawing/2014/main" val="126729304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cities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Best solution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Best bound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Best gap 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Solve time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Solve node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Solution status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36549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1.899341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1.899341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58086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3.671153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3.671153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1626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35525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4.119293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4.119293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64955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4.904319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4.904319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73539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5.69244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5.69244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0.00%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17.3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5698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76183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6.097422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6.097422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2251.73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523091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 integer optimal (relative gap limit 0.0001)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6802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6.700277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6.700277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0.00%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9619.01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1882638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 integer optimal (relative gap limit 0.0001)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3437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297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171</Words>
  <Application>Microsoft Office PowerPoint</Application>
  <PresentationFormat>宽屏</PresentationFormat>
  <Paragraphs>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Li</dc:creator>
  <cp:lastModifiedBy>Richard Li</cp:lastModifiedBy>
  <cp:revision>4</cp:revision>
  <dcterms:created xsi:type="dcterms:W3CDTF">2025-10-20T06:40:09Z</dcterms:created>
  <dcterms:modified xsi:type="dcterms:W3CDTF">2025-10-20T11:45:35Z</dcterms:modified>
</cp:coreProperties>
</file>